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</c:v>
                </c:pt>
                <c:pt idx="1">
                  <c:v>133</c:v>
                </c:pt>
                <c:pt idx="2">
                  <c:v>157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170</c:v>
                </c:pt>
                <c:pt idx="1">
                  <c:v>156</c:v>
                </c:pt>
                <c:pt idx="2">
                  <c:v>184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195</c:v>
                </c:pt>
                <c:pt idx="1">
                  <c:v>179</c:v>
                </c:pt>
                <c:pt idx="2">
                  <c:v>211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</c:v>
                </c:pt>
                <c:pt idx="1">
                  <c:v>202</c:v>
                </c:pt>
                <c:pt idx="2">
                  <c:v>238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245</c:v>
                </c:pt>
                <c:pt idx="1">
                  <c:v>225</c:v>
                </c:pt>
                <c:pt idx="2">
                  <c:v>265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270</c:v>
                </c:pt>
                <c:pt idx="1">
                  <c:v>248</c:v>
                </c:pt>
                <c:pt idx="2">
                  <c:v>292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295</c:v>
                </c:pt>
                <c:pt idx="1">
                  <c:v>271</c:v>
                </c:pt>
                <c:pt idx="2">
                  <c:v>319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320</c:v>
                </c:pt>
                <c:pt idx="1">
                  <c:v>294</c:v>
                </c:pt>
                <c:pt idx="2">
                  <c:v>346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L/s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345</c:v>
                </c:pt>
                <c:pt idx="1">
                  <c:v>317</c:v>
                </c:pt>
                <c:pt idx="2">
                  <c:v>373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6</c:v>
                </c:pt>
                <c:pt idx="2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9</c:v>
                </c:pt>
                <c:pt idx="2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10</c:v>
                </c:pt>
                <c:pt idx="2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drawing items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110</c:v>
                </c:pt>
                <c:pt idx="1">
                  <c:v>101</c:v>
                </c:pt>
                <c:pt idx="2">
                  <c:v>119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110</c:v>
                </c:pt>
                <c:pt idx="2">
                  <c:v>130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120</c:v>
                </c:pt>
                <c:pt idx="2">
                  <c:v>140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</c:v>
                </c:pt>
                <c:pt idx="1">
                  <c:v>129</c:v>
                </c:pt>
                <c:pt idx="2">
                  <c:v>151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</c:v>
                </c:pt>
                <c:pt idx="1">
                  <c:v>138</c:v>
                </c:pt>
                <c:pt idx="2">
                  <c:v>162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160</c:v>
                </c:pt>
                <c:pt idx="1">
                  <c:v>147</c:v>
                </c:pt>
                <c:pt idx="2">
                  <c:v>173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170</c:v>
                </c:pt>
                <c:pt idx="1">
                  <c:v>156</c:v>
                </c:pt>
                <c:pt idx="2">
                  <c:v>184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180</c:v>
                </c:pt>
                <c:pt idx="1">
                  <c:v>166</c:v>
                </c:pt>
                <c:pt idx="2">
                  <c:v>194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mm connector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190</c:v>
                </c:pt>
                <c:pt idx="1">
                  <c:v>175</c:v>
                </c:pt>
                <c:pt idx="2">
                  <c:v>205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14</c:v>
                </c:pt>
                <c:pt idx="2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</c:v>
                </c:pt>
                <c:pt idx="1">
                  <c:v>15</c:v>
                </c:pt>
                <c:pt idx="2">
                  <c:v>17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16</c:v>
                </c:pt>
                <c:pt idx="2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17</c:v>
                </c:pt>
                <c:pt idx="2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</c:v>
                </c:pt>
                <c:pt idx="1">
                  <c:v>17</c:v>
                </c:pt>
                <c:pt idx="2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18</c:v>
                </c:pt>
                <c:pt idx="2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kW design load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19</c:v>
                </c:pt>
                <c:pt idx="2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6</c:v>
                </c:pt>
                <c:pt idx="2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9</c:v>
                </c:pt>
                <c:pt idx="2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10</c:v>
                </c:pt>
                <c:pt idx="2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coordination issues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Option A</c:v>
                </c:pt>
                <c:pt idx="2">
                  <c:v>Option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4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WSQ · FOUR DAYS · 32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Autodesk Certified Professional (ACP) for Revit Mechanical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9" name="Picture 8" descr="mechanical-bim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00200"/>
            <a:ext cx="6629400" cy="37310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627632"/>
            <a:ext cx="475488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19"/>
            <a:ext cx="4297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293E"/>
                </a:solidFill>
                <a:latin typeface="Arial"/>
              </a:defRPr>
            </a:pPr>
            <a:r>
              <a:t>Mechanical BIM</a:t>
            </a:r>
          </a:p>
          <a:p>
            <a:pPr>
              <a:defRPr sz="2600" b="1">
                <a:solidFill>
                  <a:srgbClr val="10293E"/>
                </a:solidFill>
                <a:latin typeface="Arial"/>
              </a:defRPr>
            </a:pPr>
            <a:r>
              <a:t>from model to issued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56632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0293E"/>
                </a:solidFill>
                <a:latin typeface="Arial"/>
              </a:defRPr>
            </a:pPr>
            <a:r>
              <a:t>TGS-2023036661  ·  v7.0  ·  14 September 2026</a:t>
            </a:r>
          </a:p>
          <a:p>
            <a:pPr>
              <a:defRPr sz="1400" b="0">
                <a:solidFill>
                  <a:srgbClr val="10293E"/>
                </a:solidFill>
                <a:latin typeface="Arial"/>
              </a:defRPr>
            </a:pPr>
            <a:r>
              <a:t>Tertiary Infotech Academy Pte Ltd · UEN 201200696W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AM · PM · Assessment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LO1: Execute mechanical calculations and build conceptual duct and piping designs with a Basis of Design.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LO2: Produce coordinated mechanical schedules, plans, sections, sheets and revisions.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LO3: Create and validate MEP families, connectors and parameters for accurate BIM models.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LO4: Review analytical spaces, zones, energy inputs and calculated values against project criteria.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LO5: Coordinate linked models, clashes, standards and handover evidence efficiently.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Course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Model → Document → Family → Analyse → Coordinate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Written SAQ 60 min · Practical Performance 120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Open LMS-TMS → Courseware Link → current Learner Guide and Labs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Trainer profile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Name · professional credentials · Revit/MEP project experience · contact channel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10607040" cy="338328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33832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1019556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Tertiary Infotech Academy · course delivery profile. Verify live biography and credentials before presenting.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2606040" cy="21945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3152" cy="219456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86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2194560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K1–K8 · 60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240280"/>
            <a:ext cx="2606040" cy="21945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240280"/>
            <a:ext cx="73152" cy="219456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386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770632"/>
            <a:ext cx="2194560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A1–A9 · 120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240280"/>
            <a:ext cx="2606040" cy="21945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240280"/>
            <a:ext cx="73152" cy="219456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2386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70632"/>
            <a:ext cx="2194560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Evidence and C/NYC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240280"/>
            <a:ext cx="2606040" cy="21945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2240280"/>
            <a:ext cx="73152" cy="219456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386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SIGN-OFF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770632"/>
            <a:ext cx="2194560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Assessor and candidate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Mechanical equipment and system classification.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mechanical / equipment / and / system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145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9" name="Picture 8" descr="mechanical-service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400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COORDINATION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Mechanical equipment and system classification.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145 L/s through two branches = 72 L/s each. At 0.08 m², face velocity = 1.81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Mechanical equipment and system classification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Mechanical equipment and system classification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equipment and system classification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Mechanical equipment and system classification.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Air terminals and design airflow.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air / terminals / and / design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170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Air terminals and design airflow.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170 L/s through two branches = 85 L/s each. At 0.08 m², face velocity = 2.12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Air terminals and design airflow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Air terminals and design airflow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Air terminals and design airflow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Air terminals and design airflow.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Supply, return and exhaust duct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supply, / return / and / exhaust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195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Supply, return and exhaust duct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195 L/s through two branches = 98 L/s each. At 0.08 m², face velocity = 2.44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Supply, return and exhaust duct systems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Supply, return and exhaust duct systems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Supply, return and exhaust duct systems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Supply, return and exhaust duct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Duct types, routing and fittings.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duct / types, / routing / and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220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Duct types, routing and fittings.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220 L/s through two branches = 110 L/s each. At 0.08 m², face velocity = 2.75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Duct types, routing and fittings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Duct types, routing and fittings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types, routing and fittings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Duct types, routing and fittings.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Duct sizing and pressure loss.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duct / sizing / and / pressure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245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Duct sizing and pressure loss.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245 L/s through two branches = 122 L/s each. At 0.08 m², face velocity = 3.06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Duct sizing and pressure loss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Duct sizing and pressure loss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sizing and pressure loss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Duct sizing and pressure loss.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Plumbing fixtures and pipe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plumbing / fixtures / and / pipe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270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Plumbing fixtures and pipe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270 L/s through two branches = 135 L/s each. At 0.08 m², face velocity = 3.38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Plumbing fixtures and pipe systems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Plumbing fixtures and pipe systems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Plumbing fixtures and pipe systems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Plumbing fixtures and pipe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Hydronic equipment and pipe sizing.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hydronic / equipment / and / pipe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295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Hydronic equipment and pipe sizing.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295 L/s through two branches = 148 L/s each. At 0.08 m², face velocity = 3.69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Hydronic equipment and pipe sizing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Hydronic equipment and pipe sizing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equipment and pipe sizing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Hydronic equipment and pipe sizing.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Fire protection sprinklers and branch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fire / protection / sprinklers / and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320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Fire protection sprinklers and branch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69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320 L/s through two branches = 160 L/s each. At 0.08 m², face velocity = 4.00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Fire protection sprinklers and branch flow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Fire protection sprinklers and branch flow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Fire protection sprinklers and branch flow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Fire protection sprinklers and branch 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System Browser and unassigned connectors.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category, system type, connector classification and flow.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MEP element and logical system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system / browser / and / unassigned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category, system type, connector classification and flow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345 L/s.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System Browser and unassigned connectors.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supply 345 L/s through two branches = 172 L/s each. At 0.08 m², face velocity = 4.31 m/s.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System Browser and unassigned connectors is missing or inconsistent, isolate connector classification, flow setting, sizing constraint and System Browser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79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System Browser and unassigned connectors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K1 K2 A1 A2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Browser and unassigned connectors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System Browser and unassigned connectors.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K1 K2 A1 A2; Lab 03.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01 — Establish MEP project and link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clean mechanical project and link audit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linked architecture, levels, shared coordinates; working RVT, schedule and PDF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01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02 — Place equipment and air terminals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equipment and terminal layout with a connector register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AHU, diffusers, flow assignment; working RVT, schedule and PDF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02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03 — Build and size a duct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connected supply system with calculated airflow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supply duct, branches, fittings and sizing; working RVT, schedule and PDF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1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03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View templates and discipline visibility.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view / templates / and / discipline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6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90</a:t>
            </a:r>
          </a:p>
        </p:txBody>
      </p:sp>
      <p:pic>
        <p:nvPicPr>
          <p:cNvPr id="9" name="Picture 8" descr="mechanical-service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400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COORDINATION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View templates and discipline visibility.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6 scheduled items, 5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View templates and discipline visibility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View templates and discipline visibility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View templates and discipline visibility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View templates and discipline visibility.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Mechanical plans, sections and callouts.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mechanical / plans, / sections / and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7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Mechanical plans, sections and callouts.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7 scheduled items, 6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Mechanical plans, sections and callouts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Mechanical plans, sections and callouts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Mechanical plans, sections and callouts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Mechanical plans, sections and callouts.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Duct and pipe schedules.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duct / and / pipe / schedules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8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Duct and pipe schedules.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8 scheduled items, 7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Duct and pipe schedules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Duct and pipe schedules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and pipe schedules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Duct and pipe schedules.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Equipment schedules and calculated fields.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equipment / schedules / and / calculated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9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Equipment schedules and calculated fields.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9 scheduled items, 8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Equipment schedules and calculated fields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Equipment schedules and calculated fields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Equipment schedules and calculated fields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Equipment schedules and calculated fields.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Sheets, titleblocks and viewports.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sheets, / titleblocks / and / viewports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10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Sheets, titleblocks and viewports.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10 scheduled items, 9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Sheets, titleblocks and viewports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Sheets, titleblocks and viewports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Sheets, titleblocks and viewports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Sheets, titleblocks and viewports.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Revision clouds and issue metadata.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revision / clouds / and / issue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11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Revision clouds and issue metadata.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11 scheduled items, 10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Revision clouds and issue metadata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Revision clouds and issue metadata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clouds and issue metadata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Revision clouds and issue metadata.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Phasing for existing and new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phasing / for / existing / and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12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Phasing for existing and new systems.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139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12 scheduled items, 11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Phasing for existing and new systems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Phasing for existing and new systems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Phasing for existing and new systems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Phasing for existing and new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Tags, keynotes and annotation families.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tags, / keynotes / and / annotation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13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Tags, keynotes and annotation families.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13 scheduled items, 12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Tags, keynotes and annotation families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Tags, keynotes and annotation families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Tags, keynotes and annotation families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Tags, keynotes and annotation families.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Drawing QA and coordination notes.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view template, phase, discipline, filter and annotation.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view, schedule or issued sheet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drawing / qa / and / coordination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view template, phase, discipline, filter and annotation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14 drawing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Drawing QA and coordination notes.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issue check: 14 scheduled items, 13 tagged on sheet → 1 unresolved drawing discrepancy.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Drawing QA and coordination notes is missing or inconsistent, isolate view template, phase filter, schedule filter and sheet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Drawing QA and coordination notes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K3 K4 A3 A4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Drawing QA and coordination notes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159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Drawing QA and coordination notes.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K3 K4 A3 A4; Lab 06.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04 — Create mechanical views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mechanical view set with consistent visibility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floor plan, section, view template; working RVT, schedule and PDF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04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05 — Schedule equipment ducts and pipes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three auditable schedules with units and filters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equipment, duct and pipe schedule fields; working RVT, schedule and PDF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05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06 — Issue sheets tags and revisions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issued drawing set with revision register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sheet, viewport, tags, revision cloud; working RVT, schedule and PDF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2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06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Family category and part type.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family / category / and / part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110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168</a:t>
            </a:r>
          </a:p>
        </p:txBody>
      </p:sp>
      <p:pic>
        <p:nvPicPr>
          <p:cNvPr id="9" name="Picture 8" descr="mechanical-service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400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COORDINATION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Family category and part type.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169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Ø110 mm: area = π×(0.11 m)²/4 = 0.010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Family category and part type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Family category and part type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category and part type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Family category and part type.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Hosted versus non-hosted equipment.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hosted / versus / non-hosted / equipment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120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Hosted versus non-hosted equipment.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Ø120 mm: area = π×(0.12 m)²/4 = 0.011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Hosted versus non-hosted equipment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179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Hosted versus non-hosted equipment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Hosted versus non-hosted equipment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Hosted versus non-hosted equipment.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Duct connectors and flow direction.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duct / connectors / and / flow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130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Duct connectors and flow direction.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Ø130 mm: area = π×(0.13 m)²/4 = 0.013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Duct connectors and flow direction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Duct connectors and flow direction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connectors and flow direction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Duct connectors and flow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Pipe connectors and system classification.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pipe / connectors / and / system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140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Pipe connectors and system classification.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Ø140 mm: area = π×(0.14 m)²/4 = 0.015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Pipe connectors and system classification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Pipe connectors and system classification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Pipe connectors and system classification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Pipe connectors and system classification.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Connector dimensions and associations.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connector / dimensions / and / associations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199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150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Connector dimensions and associations.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Ø150 mm: area = π×(0.15 m)²/4 = 0.018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Connector dimensions and associations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Connector dimensions and associations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Connector dimensions and associations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Connector dimensions and associations.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Family type and instance parameters.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family / type / and / instance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160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Family type and instance parameters.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Ø160 mm: area = π×(0.16 m)²/4 = 0.020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Family type and instance parameters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Family type and instance parameters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type and instance parameters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Family type and instance parameters.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Shared parameters and schedule identity.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/ parameters / and / schedule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170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Shared parameters and schedule identity.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Ø170 mm: area = π×(0.17 m)²/4 = 0.023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Shared parameters and schedule identity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Shared parameters and schedule identity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Shared parameters and schedule identity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Shared parameters and schedule identity.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Visibility controls and detail levels.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visibility / controls / and / detail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180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Visibility controls and detail levels.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Ø180 mm: area = π×(0.18 m)²/4 = 0.025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Visibility controls and detail levels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Visibility controls and detail levels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Visibility controls and detail levels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Visibility controls and detail levels.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Family formulas and flex validation.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family category, host, type parameter and connector.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loadable family type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family / formulas / and / flex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family category, host, type parameter and connector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190 mm connector.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Family formulas and flex validation.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round connector Ø190 mm: area = π×(0.19 m)²/4 = 0.028 m².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Family formulas and flex validation is missing or inconsistent, isolate connector classification, direction, host and family type association.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Family formulas and flex validation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K5 K6 A5 A6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Family formulas and flex validation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Family formulas and flex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K5 K6 A5 A6; Lab 09.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07 — Build an equipment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loadable mechanical equipment 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family category, types and host; working RVT, schedule and PDF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07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239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08 — Configure HVAC and pipe connectors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family with valid HVAC and piping connectors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connector classification, flow direction, dimensions; working RVT, schedule and PDF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08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09 — Flex test parameters and annotation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flex-tested family and tag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shared parameter, formula, visibility; working RVT, schedule and PDF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3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09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Energy settings and analytical model.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energy / settings / and / analytical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13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246</a:t>
            </a:r>
          </a:p>
        </p:txBody>
      </p:sp>
      <p:pic>
        <p:nvPicPr>
          <p:cNvPr id="9" name="Picture 8" descr="mechanical-service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400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COORDINATION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Energy settings and analytical model.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13 kW at ΔT 10 K: airflow ≈ 1.08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Energy settings and analytical model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Energy settings and analytical model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Energy settings and analytical model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Energy settings and analytical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Rooms, spaces and analytical boundaries.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rooms, / spaces / and / analytical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14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Rooms, spaces and analytical boundaries.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14 kW at ΔT 10 K: airflow ≈ 1.16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Rooms, spaces and analytical boundaries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Rooms, spaces and analytical boundaries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Rooms, spaces and analytical boundaries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259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Rooms, spaces and analytical boundaries.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System zones and zone equipment.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system / zones / and / zone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15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System zones and zone equipment.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15 kW at ΔT 10 K: airflow ≈ 1.24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System zones and zone equipment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System zones and zone equipment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System zones and zone equipment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System zones and zone equipment.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Supply air and ventilation loads.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supply / air / and / ventilation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269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16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Supply air and ventilation loads.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16 kW at ΔT 10 K: airflow ≈ 1.33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Supply air and ventilation loads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Supply air and ventilation loads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Supply air and ventilation loads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Supply air and ventilation loads.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Heating and cooling load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heating / and / cooling / load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17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Heating and cooling load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279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17 kW at ΔT 10 K: airflow ≈ 1.41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Heating and cooling load checks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Heating and cooling load checks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Heating and cooling load checks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Heating and cooling load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Duct velocity and pressure-drop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duct / velocity / and / pressure-drop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18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Duct velocity and pressure-drop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18 kW at ΔT 10 K: airflow ≈ 1.49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Duct velocity and pressure-drop checks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Duct velocity and pressure-drop checks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Duct velocity and pressure-drop checks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Duct velocity and pressure-drop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Hydronic flow and pipe loss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hydronic / flow / and / pipe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19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Hydronic flow and pipe loss checks.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19 kW at ΔT 10 K: airflow ≈ 1.58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Hydronic flow and pipe loss checks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Hydronic flow and pipe loss checks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Hydronic flow and pipe loss checks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299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Hydronic flow and pipe loss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Thermal properties of constructions.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thermal / properties / of / constructions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20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Thermal properties of constructions.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20 kW at ΔT 10 K: airflow ≈ 1.66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Thermal properties of constructions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Thermal properties of constructions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Thermal properties of constructions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Thermal properties of constructions.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Calculated values and exception review.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space boundary, zone, analytical settings and thermal property.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analytical space, zone or calculated result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calculated / values / and / exception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space boundary, zone, analytical settings and thermal property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21 kW design 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Calculated values and exception review.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sensible load 21 kW at ΔT 10 K: airflow ≈ 1.74 m³/s using ρ=1.2 kg/m³ and cp=1.005 kJ/kg·K.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Calculated values and exception review is missing or inconsistent, isolate room boundary, zone assignment, energy setting and material thermal input.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Calculated values and exception review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K7 A7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Calculated values and exception review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Calculated values and exception review.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K7 A7; Lab 12.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10 — Create spaces zones and energy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energy model and zone mapping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rooms, spaces, analytical surfaces and zones; working RVT, schedule and PDF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10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11 — Review airflow loads and duct sizing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load and airflow reconciliation sheet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terminal flow, zone loads, sizing constraints; working RVT, schedule and PDF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11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12 — Build hydronic piping and check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piping network and pressure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pump, hydronic circuit, pipe sizing; working RVT, schedule and PDF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4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12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Link architecture and shared coordinates.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link / architecture / and / shared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4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324</a:t>
            </a:r>
          </a:p>
        </p:txBody>
      </p:sp>
      <p:pic>
        <p:nvPicPr>
          <p:cNvPr id="9" name="Picture 8" descr="mechanical-service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6400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COORDINATION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Link architecture and shared coordinates.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4 baseline issues; Option A resolves 2 leaving 2; Option B resolves 3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Link architecture and shared coordinates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Link architecture and shared coordinates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Link architecture and shared coordinates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Link architecture and shared coordinates.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Worksets and central model ownership.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worksets / and / central / model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5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Worksets and central model ownership.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5 baseline issues; Option A resolves 3 leaving 2; Option B resolves 4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Worksets and central model ownership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Worksets and central model ownership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Worksets and central model ownership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Worksets and central model ownership.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Copy/Monitor of levels and grids.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copy/monitor / of / levels / and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339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6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Copy/Monitor of levels and grids.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6 baseline issues; Option A resolves 4 leaving 2; Option B resolves 5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Copy/Monitor of levels and grids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Copy/Monitor of levels and grids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Copy/Monitor of levels and grids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Copy/Monitor of levels and grids.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Interference checks and clash records.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interference / checks / and / clash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7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Interference checks and clash records.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7 baseline issues; Option A resolves 5 leaving 2; Option B resolves 6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Interference checks and clash records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Interference checks and clash records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Interference checks and clash records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Interference checks and clash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Model review and issue assignment.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model / review / and / issue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8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Model review and issue assignment.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8 baseline issues; Option A resolves 6 leaving 2; Option B resolves 7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Model review and issue assignment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359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Model review and issue assignment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Model review and issue assignment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Model review and issue assignment.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Design options for route alternatives.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design / options / for / route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9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Design options for route alternatives.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9 baseline issues; Option A resolves 7 leaving 2; Option B resolves 8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Design options for route alternatives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Design options for route alternatives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Design options for route alternatives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369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Design options for route alternatives.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Project standards transfer.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project / standards / transfer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10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Project standards transfer.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10 baseline issues; Option A resolves 8 leaving 2; Option B resolves 9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Project standards transfer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Project standards transfer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Project standards transfer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Project standards transfer.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IFC, PDF and schedule export.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ifc, / pdf / and / schedule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379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11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IFC, PDF and schedule export.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11 baseline issues; Option A resolves 9 leaving 2; Option B resolves 10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IFC, PDF and schedule export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IFC, PDF and schedule export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IFC, PDF and schedule export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IFC, PDF and schedule export.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Model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Input: Revision handover and evidence register.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Control: link coordinates, workset, issue ID and revision.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Output: a named linked model, coordination issue or export with a traceable element 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revision / handover / and / evidence in its relevant Revit view, browser or schedule.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ELEMENT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OUTPUT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Parameter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brief → link coordinates, workset, issue ID and revision → model state → drawing or report.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value: 12 coordination issues.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units, discipline and type versus instance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PARAMETER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Coordinated model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 provides levels and room bounds. Mechanical model owns Revision handover and evidence register.</a:t>
            </a:r>
          </a:p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 coordination view must expose both without duplicating source elements.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Check shared coordinates and linked-model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ARCH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CHECK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Worked design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Illustrative coordination review: 12 baseline issues; Option A resolves 10 leaving 2; Option B resolves 11 leaving 1. Compare cost and effort.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Validate the illustrative calculation against project criteria and model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If Revision handover and evidence register is missing or inconsistent, isolate shared coordinates, link reload, workset ownership and issue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Capture element ID and exact property before changing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FIX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Accept Revision handover and evidence register only when the model object, schedule total, drawing annotation and Basis of Design agree.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Escalate mismatches with revision and owner.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Quantitative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66751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818120" y="1965960"/>
            <a:ext cx="3429000" cy="3749039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73152" cy="3749039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122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DESIGN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96312"/>
            <a:ext cx="3017520" cy="3145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Choose only after domain criteria and project requirements are checked.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K8 A8 A9 ·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Revision handover and evidence register — Evidence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640080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5989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MECHANISM /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59893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Package: relevant RVT view + schedule extract + issue record + revision on sheet for Revision handover and evidence register.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28800"/>
            <a:ext cx="3931920" cy="411480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1828800"/>
            <a:ext cx="73152" cy="4114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75104"/>
            <a:ext cx="3520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59152"/>
            <a:ext cx="3520439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Criteria: K8 A8 A9; Lab 15.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434840"/>
            <a:ext cx="1261872" cy="749808"/>
          </a:xfrm>
          <a:prstGeom prst="rect">
            <a:avLst/>
          </a:prstGeom>
          <a:solidFill>
            <a:srgbClr val="145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RVT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3744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1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ISSUE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3600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45F9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6" y="4434840"/>
            <a:ext cx="1261872" cy="74980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46177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REVISION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13 — Link and coordinate discipline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linked coordination model and change log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architecture link, workset, copy-monitor; working RVT, schedule and PDF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13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14 — Resolve clashes and evaluate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resolved clash register with option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interference report, design options, issue owner; working RVT, schedule and PDF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14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15 — Export and defend the mechanical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MODEL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handover bundle and signed evidence register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828800"/>
            <a:ext cx="521208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7510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9152"/>
            <a:ext cx="480060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project standards, IFC, PDF, final QA; working RVT, schedule and PDF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TOPIC 5 ·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Lab 15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399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PASS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System Browser assignment · model schedule reconciliation · linked architecture · revisioned sheet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WA +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WA: eight open-ended questions, 60 min. PP: three integrated tasks, 120 min. Submit through LMS-TMS.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Assessment flow and sign-off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Question paper → assessor review → Competent / Not Yet Competent → signed record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Record assessment attendance in the approved digital attendance system.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787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93E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155680" cy="2286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Autodesk Certified Professional (ACP) for Revit Mechanical Design · TGS-2023036661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B5C6A"/>
                </a:solidFill>
                <a:latin typeface="Arial"/>
              </a:defRPr>
            </a:pPr>
            <a:r>
              <a:t>403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607040" cy="3474720"/>
          </a:xfrm>
          <a:prstGeom prst="rect">
            <a:avLst/>
          </a:prstGeom>
          <a:solidFill>
            <a:srgbClr val="EF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73152" cy="347472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75104"/>
            <a:ext cx="10195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45F96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1019556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0293E"/>
                </a:solidFill>
                <a:latin typeface="Arial"/>
              </a:defRPr>
            </a:pPr>
            <a:r>
              <a:t>Retain your RVT, exported sheet and evidence register for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